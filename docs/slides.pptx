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5486400" cy="3200400"/>
          </a:xfrm>
          <a:prstGeom prst="rect">
            <a:avLst/>
          </a:prstGeom>
          <a:solidFill>
            <a:srgbClr val="11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54864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</a:rPr>
              <a:t>ANÁLISE DE DADOS MULTIDIMENSIONAIS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PCA &amp; MDS aplicados 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8A6FF"/>
                </a:solidFill>
              </a:rPr>
              <a:t>Produção de Leite no Amazonas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Tabela 74 IBGE — Pesquisa da Pecuária Municipal (2004–2024)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Redução de dimensionalidade e visualização exploratória de dados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20640"/>
            <a:ext cx="1645920" cy="3200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1023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62 Municípios do 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5120640"/>
            <a:ext cx="1645920" cy="3200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51023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21 Anos de Dados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5120640"/>
            <a:ext cx="1645920" cy="3200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51023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PCA &amp; MDS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5120640"/>
            <a:ext cx="1645920" cy="3200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51023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scikit-learn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49E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C8CFF"/>
                </a:solidFill>
              </a:rPr>
              <a:t>ROTEIRO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</a:rPr>
              <a:t>O que será abordado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530352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01 —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848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Fonte, estrutura e descrição da Tabela 74 do IBGE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16352"/>
            <a:ext cx="530352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077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02 — Teoria PCA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552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Fundamentos matemáticos da Análise de Componentes Principais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86784"/>
            <a:ext cx="530352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782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03 — Teoria MDS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2569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Fundamentos do Escalonamento Multidimensional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157216"/>
            <a:ext cx="530352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2486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04 — Seleção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961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Justificativa das 21 variáveis temporais utilizadas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645920"/>
            <a:ext cx="530352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05 — Preparação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0848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Limpeza, imputação e padronização Z-score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816352"/>
            <a:ext cx="530352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9077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06 — Resultados PCA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552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Variância explicada, Scree Plot, Biplot e projeção 2D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986784"/>
            <a:ext cx="530352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0782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07 — Resultados MDS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2569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Stress, agrupamentos e comparação com PCA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157216"/>
            <a:ext cx="530352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2486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08 — Conclusões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5961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Padrões, outliers e respostas às questões roteadoras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49E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</a:rPr>
              <a:t>DESCRIÇÃO DO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</a:rPr>
              <a:t>Tabela 74 — IBGE Pecuária Municipal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O dataset é extraído da Pesquisa da Pecuária Municipal (PPM) do IBGE, cobrindo todos os municípios do Amazonas com registro de produção de leite bovino.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530352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Estrutura original do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O arquivo contém 3 sub-tabelas concatenadas: produção física (Mil litros), valor da produção (Mil reais) e percentual estadual.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29000"/>
            <a:ext cx="5303520" cy="91440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Variável utilizada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86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FB950"/>
                </a:solidFill>
              </a:rPr>
              <a:t>Produção de leite (Mil litros/ano) — série 2004–2024 para os 62 municípios do 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459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58A6FF"/>
                </a:solidFill>
              </a:rPr>
              <a:t>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Municípios (obs.)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6459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58A6FF"/>
                </a:solidFill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Anos (features)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346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58A6FF"/>
                </a:solidFill>
              </a:rPr>
              <a:t>2004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Início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8346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58A6FF"/>
                </a:solidFill>
              </a:rPr>
              <a:t>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Fim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794760"/>
            <a:ext cx="5029200" cy="12344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886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Desafios do CSV bruto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25196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BOM UTF-8 e valores especiais (.., ..., -)  |  Colunas intercaladas por ano (Total + Leite + Unidade)  |  Parsing manual com índices calculados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49E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C8CFF"/>
                </a:solidFill>
              </a:rPr>
              <a:t>FUNDAMENTO TEÓRICO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</a:rPr>
              <a:t>Principal Component Analysis —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O PCA transforma variáveis correlacionadas em componentes ortogonais que maximizam a variância capturada no espaço reduzido.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5303520" cy="118872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X_centrado = X - μ
C = (1/n) · Xᵀ · X    ← Covariância
C · v = λ · v          ← Autovetor / Autovalor
PC_k = X · v_k         ← Projeção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371600"/>
            <a:ext cx="2560320" cy="118872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</a:rPr>
              <a:t>Componentes ortogonais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7830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Cada PC é perpendicular às demais, eliminando redundância e correlação entre as novas variáveis.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1371600"/>
            <a:ext cx="2560320" cy="118872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</a:rPr>
              <a:t>Variância decrescente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17830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PC1 captura a maior variância; PC2 a segunda maior; e assim sucessivamente.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743200"/>
            <a:ext cx="2560320" cy="118872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</a:rPr>
              <a:t>Padronização obrigatória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1546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Z-score necessário para que variáveis com escalas diferentes contribuam igualmente.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2743200"/>
            <a:ext cx="2560320" cy="118872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</a:rPr>
              <a:t>Loadings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31546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Pesos que indicam o quanto cada variável original contribui para cada componente principal.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429000"/>
            <a:ext cx="5303520" cy="91440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520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29922"/>
                </a:solidFill>
              </a:rPr>
              <a:t>Limitação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86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O PCA é linear — relações não-lineares entre variáveis podem não ser bem capturadas na projeção 2D.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49E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C8CFF"/>
                </a:solidFill>
              </a:rPr>
              <a:t>FUNDAMENTO TEÓRICO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</a:rPr>
              <a:t>Multidimensional Scaling — MDS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O MDS projeta observações em baixa dimensão preservando as distâncias (dissimilaridades) entre pares de pontos no espaço original.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5303520" cy="118872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D_ij = ||x_i - x_j||       ← distâncias euclidianas
D_norm = D / max(D)        ← normalização [0,1]
Stress = √(Σ(d̂_ij - d_ij)² / Σd²)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429000"/>
            <a:ext cx="5303520" cy="150876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Interpretação do Stress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Stress &lt; 0.05  →  Excelente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A6FF"/>
                </a:solidFill>
              </a:rPr>
              <a:t>Stress &lt; 0.10  →  Boa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29922"/>
                </a:solidFill>
              </a:rPr>
              <a:t>Stress &lt; 0.20  →  Aceitável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5149"/>
                </a:solidFill>
              </a:rPr>
              <a:t>Stress ≥ 0.20  →  Ruim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371600"/>
            <a:ext cx="5029200" cy="118872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463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MDS Métrico vs Não-Métrico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8288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Métrico: preserva valores das distâncias. Não-Métrico: preserva a ordem (rank) das distâncias — mais robusto e usado neste trabalho.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743200"/>
            <a:ext cx="5029200" cy="118872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834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Diferença do PCA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004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O PCA otimiza a variância; o MDS otimiza as distâncias entre pares. MDS é melhor para detectar agrupamentos por similaridade global.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4114800"/>
            <a:ext cx="5029200" cy="118872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2062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Estratégia adotada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5720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MDS Não-Métrico com matriz de dissimilaridade Euclidiana pré-computada e normalizada para melhor estabilidade numérica.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49E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FB950"/>
                </a:solidFill>
              </a:rPr>
              <a:t>PRÉ-PROCESSAMENTO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</a:rPr>
              <a:t>Seleção, Limpeza e Padronização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5303520" cy="182880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Features selecionadas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Cada um dos 21 anos (2004–2024) como dimensão independente do perfil municipal.
Justificativa: Cada ano é uma variável numérica contínua (Mil litros). Tratando municípios como observações e anos como features, o PCA/MDS identifica municípios com trajetórias similares.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429000"/>
            <a:ext cx="5303520" cy="128016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Pipeline de limpeza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Remoção de municípios com &gt;50% de NaN (4 excluídos)
Imputação pela mediana anual nos restantes
Padronização Z-score (μ=0, σ=1)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463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58A6FF"/>
                </a:solidFill>
              </a:rPr>
              <a:t>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Municípios finais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463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58A6FF"/>
                </a:solidFill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Features (anos)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880360"/>
            <a:ext cx="502920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971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Por que padronizar?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3832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Autazes: ~9.700 Mil L/ano vs municípios com &lt;10 Mil L. Sem padronização os valores absolutos dominariam as componentes.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3977639"/>
            <a:ext cx="5029200" cy="73152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0690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8A6FF"/>
                </a:solidFill>
              </a:rPr>
              <a:t>z = (x − μ) / σ   →   μ=0.000  σ=1.000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49E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</a:rPr>
              <a:t>RESULTADOS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</a:rPr>
              <a:t>Variância Explicada e Loadings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21792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630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58A6FF"/>
                </a:solidFill>
              </a:rPr>
              <a:t>91,3%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1945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Variância — PC1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060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BC8CFF"/>
                </a:solidFill>
              </a:rPr>
              <a:t>4,4%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1546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PC2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3520440"/>
            <a:ext cx="4480560" cy="105156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3611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97763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A PC1 captura 91,3% da variância total. Apenas 1 componente já supera 80%: o perfil é dominado pelo nível absoluto de produção.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4663440"/>
            <a:ext cx="4480560" cy="91440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Loadings do PC1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1206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Todos os anos têm loading positivo e próximo — PC1 representa o volume geral de produção.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49E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</a:rPr>
              <a:t>RESULTADOS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</a:rPr>
              <a:t>Projeção 2D e Agrupamentos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40080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89520" y="1463040"/>
            <a:ext cx="4206240" cy="14630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Três grupos bem definidos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95,7% de variância (PC1+PC2)
● Alta produção — Autazes, Careiro, Parintins
● Média produção — grupo intermediário
● Baixa produção — maioria dos municípios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3017520"/>
            <a:ext cx="4206240" cy="109728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108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Outliers visíveis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4747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Autazes e Careiro da Várzea estão completamente isolados, confirmando seu status de maiores bacias leiteiras do 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4206240"/>
            <a:ext cx="420624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PC2 — Tendência temporal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663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Municípios que oscilaram muito aparecem deslocados verticalmente; produtores estáveis ficam agrupados horizontalmente.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49E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</a:rPr>
              <a:t>RESULTADOS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</a:rPr>
              <a:t>Biplot — Municípios e Vetores dos Anos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40080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89520" y="1463040"/>
            <a:ext cx="4206240" cy="137160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Leitura do Biplot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Cada vetor/seta representa um ano. Quanto mais longo e alinhado com o PC1, mais o ano diferencia municípios por volume. Vetores paralelos = padrões similares entre anos.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2971800"/>
            <a:ext cx="420624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063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Observação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429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Todos os vetores apontam na mesma direção (PC1+), confirmando que todos os anos medem essencialmente o mesmo fenômeno.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4069080"/>
            <a:ext cx="420624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1605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Implicação prática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5262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29922"/>
                </a:solidFill>
              </a:rPr>
              <a:t>O histórico de produção é estruturalmente estável no AM. Municípios grandes produtores mantiveram essa posição ao longo de 20 anos.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49E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C8CFF"/>
                </a:solidFill>
              </a:rPr>
              <a:t>RESULTADOS MDS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</a:rPr>
              <a:t>MDS Não-Métrico — Stress e Projeção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4008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630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FB950"/>
                </a:solidFill>
              </a:rPr>
              <a:t>0,0075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1945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Stress  (Excelente &lt; 0.05)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2651760"/>
            <a:ext cx="4480560" cy="105156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Qualidade da representação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108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Stress 0,0075 indica que a projeção 2D preserva de forma quase perfeita as distâncias originais entre os 58 municípios.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3794760"/>
            <a:ext cx="4480560" cy="10058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Agrupamentos confirmados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2519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Os mesmos 3 grupos do PCA aparecem no MDS, validando os padrões de forma independente.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4892040"/>
            <a:ext cx="4480560" cy="86868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4983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Vantagem do MDS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53309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MDS captura melhor diferenças relativas entre municípios do grupo médio.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49E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29922"/>
                </a:solidFill>
              </a:rPr>
              <a:t>COMPARAÇÃO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</a:rPr>
              <a:t>PCA vs MDS — Análise de Outliers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972800" cy="3200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4800600"/>
            <a:ext cx="3566160" cy="164592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Autazes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Dist PCA: 20,95 | Média: 9.730 Mil L/ano
Maior bacia leiteira do 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4800600"/>
            <a:ext cx="3566160" cy="164592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C8CFF"/>
                </a:solidFill>
              </a:rPr>
              <a:t>Careiro da Várzea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53035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Dist PCA: 17,58 | Média: 8.226 Mil L/ano
Privilegiado pela várzea do Solimões.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4800600"/>
            <a:ext cx="3566160" cy="164592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</a:rPr>
              <a:t>Convergência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3035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PCA e MDS identificaram os mesmos 6 outliers na mesma ordem — alta confiabilidade.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49E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FB950"/>
                </a:solidFill>
              </a:rPr>
              <a:t>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</a:rPr>
              <a:t>Síntese e Aprendizados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5943600" cy="12344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Padrão dominante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A produção leiteira no AM é altamente concentrada. Autazes e Careiro da Várzea dominam com padrões estáveis em 20 anos.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926080"/>
            <a:ext cx="5943600" cy="12344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</a:rPr>
              <a:t>PCA — Excelente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95,7% de variância em 2D. A estrutura é inerentemente unidimensional: apenas o volume diferencia os municípios.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389120"/>
            <a:ext cx="5943600" cy="123444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</a:rPr>
              <a:t>MDS — Validação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Stress 0,0075 (excelente). Agrupamentos do PCA totalmente confirmados pelo MDS.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63040"/>
            <a:ext cx="4663440" cy="29260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132320" y="4526280"/>
            <a:ext cx="4663440" cy="1508760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617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Potencial para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0292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Apenas 1 PC captura 91,3% da informação — redução de 21 features para 1 sem perda significativa.
MDS: melhor reservado para visualização.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49E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